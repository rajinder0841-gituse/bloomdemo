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1.png"/><Relationship Id="rId6" Type="http://schemas.openxmlformats.org/officeDocument/2006/relationships/image" Target="../media/image-5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463040"/>
            <a:ext cx="4754880" cy="4754880"/>
          </a:xfrm>
          <a:prstGeom prst="ellipse">
            <a:avLst/>
          </a:prstGeom>
          <a:solidFill>
            <a:srgbClr val="5E1338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2743200" cy="2743200"/>
          </a:xfrm>
          <a:prstGeom prst="ellipse">
            <a:avLst/>
          </a:prstGeom>
          <a:ln w="19050">
            <a:solidFill>
              <a:srgbClr val="C6A15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8686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AT-HOME BEAUTY &amp; WELLNESS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703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Powered by the women who need it most.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86968" y="4526280"/>
            <a:ext cx="2011680" cy="0"/>
          </a:xfrm>
          <a:prstGeom prst="line">
            <a:avLst/>
          </a:prstGeom>
          <a:noFill/>
          <a:ln w="25400">
            <a:solidFill>
              <a:srgbClr val="C6A1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4709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Launching in Delhi NCR  →  Scaling across India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Overview  |  September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a broken market, a bigger crisis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875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NCR households don't trust home salons. Millions of NCR women can't access work at all.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349240" cy="4617720"/>
          </a:xfrm>
          <a:prstGeom prst="roundRect">
            <a:avLst>
              <a:gd name="adj" fmla="val 2376"/>
            </a:avLst>
          </a:prstGeom>
          <a:solidFill>
            <a:srgbClr val="F7EEF2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/home/claude/deck/icons/problem_mar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65960"/>
            <a:ext cx="685800" cy="685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78892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Market Gap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291840"/>
            <a:ext cx="4617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4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salon bookings are fragmented and informal — no verification, no accountability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4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products and untrained providers create real hygiene and safety risk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4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Opaque, on-the-spot pricing erodes trust before the service even begins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09360" y="1600200"/>
            <a:ext cx="5394960" cy="4617720"/>
          </a:xfrm>
          <a:prstGeom prst="roundRect">
            <a:avLst>
              <a:gd name="adj" fmla="val 2376"/>
            </a:avLst>
          </a:prstGeom>
          <a:solidFill>
            <a:srgbClr val="241220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pic>
        <p:nvPicPr>
          <p:cNvPr id="9" name="Image 1" descr="/home/claude/deck/icons/problem_hum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965960"/>
            <a:ext cx="685800" cy="6858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675120" y="27889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Human Crisis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6675120" y="3337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67–78%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8458200" y="336499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Indian widows live below the poverty line — the poorest of the poor (NSSO)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6675120" y="4206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32% vs 78%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8458200" y="423367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vs male labour-force participation in India (ILO / World Bank, 2025)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6675120" y="5074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 28%</a:t>
            </a:r>
            <a:endParaRPr lang="en-US" sz="2400" dirty="0"/>
          </a:p>
        </p:txBody>
      </p:sp>
      <p:sp>
        <p:nvSpPr>
          <p:cNvPr id="16" name="Text 12"/>
          <p:cNvSpPr txBox="1"/>
          <p:nvPr/>
        </p:nvSpPr>
        <p:spPr>
          <a:xfrm>
            <a:off x="8458200" y="510235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India's gig-platform workers are women, despite rapid digital job growth (ILO–NCAER, 2026)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 — INVESTOR OVERVIEW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315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solution: three engines, one mission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8755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 is a trust-first, at-home beauty &amp; wellness platform — and India's most inclusive livelihood engine for women.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611880" cy="3977640"/>
          </a:xfrm>
          <a:prstGeom prst="roundRect">
            <a:avLst>
              <a:gd name="adj" fmla="val 3038"/>
            </a:avLst>
          </a:prstGeom>
          <a:solidFill>
            <a:srgbClr val="F7EEF2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/home/claude/deck/icons/pillar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777240" cy="777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926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Services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4290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Salon, beauty, spa &amp; Ayurvedic wellness — booked in-app, delivered at home by certified Bloom professionals.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1663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1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REVENUE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611880" cy="3977640"/>
          </a:xfrm>
          <a:prstGeom prst="roundRect">
            <a:avLst>
              <a:gd name="adj" fmla="val 3038"/>
            </a:avLst>
          </a:prstGeom>
          <a:solidFill>
            <a:srgbClr val="F6EFDE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pic>
        <p:nvPicPr>
          <p:cNvPr id="10" name="Image 1" descr="/home/claude/deck/icons/pillar_lab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011680"/>
            <a:ext cx="777240" cy="7772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09160" y="2926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White-Label Ops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709160" y="34290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booking, training and fulfilment backbone, licensed to other brands and aggregators who want an at-home layer.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51663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1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REVENUE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275320" y="1691640"/>
            <a:ext cx="3611880" cy="3977640"/>
          </a:xfrm>
          <a:prstGeom prst="roundRect">
            <a:avLst>
              <a:gd name="adj" fmla="val 3038"/>
            </a:avLst>
          </a:prstGeom>
          <a:solidFill>
            <a:srgbClr val="F7EEF2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pic>
        <p:nvPicPr>
          <p:cNvPr id="15" name="Image 2" descr="/home/claude/deck/icons/pillar_mar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011680"/>
            <a:ext cx="777240" cy="7772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95360" y="2926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Curated Marketplace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595360" y="34290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Tie-ups with premium spa, Ayurveda &amp; hotel-wellness brands — commission-based discovery for the luxury tier.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8595360" y="51663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1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UPSIDE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02920" y="5852160"/>
            <a:ext cx="11155680" cy="566928"/>
          </a:xfrm>
          <a:prstGeom prst="roundRect">
            <a:avLst>
              <a:gd name="adj" fmla="val 16129"/>
            </a:avLst>
          </a:prstGeom>
          <a:solidFill>
            <a:srgbClr val="241220"/>
          </a:solidFill>
          <a:ln/>
        </p:spPr>
      </p:sp>
      <p:pic>
        <p:nvPicPr>
          <p:cNvPr id="20" name="Image 3" descr="/home/claude/deck/icons/sp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5943600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88720" y="585216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hotel-grade spa &amp; Ayurvedic wellness at home — the five-star experience, without leaving the house.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 — INVESTOR OVERVIEW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12315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sides. One mission.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875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serve, and who we exist for.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86400" cy="4343400"/>
          </a:xfrm>
          <a:prstGeom prst="roundRect">
            <a:avLst>
              <a:gd name="adj" fmla="val 2526"/>
            </a:avLst>
          </a:prstGeom>
          <a:solidFill>
            <a:srgbClr val="F7EEF2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/home/claude/deck/icons/who_custom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731520" cy="731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20391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NCR Households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017520"/>
            <a:ext cx="4846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24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Time-starved working professionals across Delhi, Gurugram, Noida, Faridabad &amp; Ghaziabad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24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that want verified, hygienic, on-time beauty &amp; wellness — without the guesswork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24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who'll pay a premium once trust is established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72200" y="1600200"/>
            <a:ext cx="5513832" cy="4343400"/>
          </a:xfrm>
          <a:prstGeom prst="roundRect">
            <a:avLst>
              <a:gd name="adj" fmla="val 2526"/>
            </a:avLst>
          </a:prstGeom>
          <a:solidFill>
            <a:srgbClr val="241220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pic>
        <p:nvPicPr>
          <p:cNvPr id="9" name="Image 1" descr="/home/claude/deck/icons/who_part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965960"/>
            <a:ext cx="731520" cy="7315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60920" y="1947672"/>
            <a:ext cx="4050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Women Who Need a Way In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492240" y="3017520"/>
            <a:ext cx="48737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with no formal education, or below the poverty line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Widows excluded from inheritance, credit, and family support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without a family or business network — unaware such livelihoods even exist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92240" y="4846320"/>
            <a:ext cx="4873752" cy="0"/>
          </a:xfrm>
          <a:prstGeom prst="line">
            <a:avLst/>
          </a:prstGeom>
          <a:noFill/>
          <a:ln w="12700">
            <a:solidFill>
              <a:srgbClr val="C6A15B"/>
            </a:solidFill>
            <a:prstDash val="dash"/>
          </a:ln>
        </p:spPr>
      </p:sp>
      <p:pic>
        <p:nvPicPr>
          <p:cNvPr id="13" name="Image 2" descr="/home/claude/deck/icons/t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50292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78040" y="5001768"/>
            <a:ext cx="4233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skill training → a verified, lasting income — not just a gig.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 — INVESTOR OVERVIEW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112315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big players don't 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8755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Company and Yes Madam built the category. Bloom builds the workforce the category left behind.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11155680" cy="502920"/>
          </a:xfrm>
          <a:prstGeom prst="rect">
            <a:avLst/>
          </a:prstGeom>
          <a:solidFill>
            <a:srgbClr val="24122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6459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971800" y="164592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9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PLATFORM (UC / YES MADAM)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16459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1115568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14884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4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sourcing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971800" y="214884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Broad, open gig marketplace</a:t>
            </a:r>
            <a:endParaRPr lang="en-US" sz="1050" dirty="0"/>
          </a:p>
        </p:txBody>
      </p:sp>
      <p:pic>
        <p:nvPicPr>
          <p:cNvPr id="12" name="Image 0" descr="/home/claude/deck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2350008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680960" y="214884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1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from the most excluded women — widows, unlettered, BPL, unsupported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2807208"/>
            <a:ext cx="11155680" cy="658368"/>
          </a:xfrm>
          <a:prstGeom prst="rect">
            <a:avLst/>
          </a:prstGeom>
          <a:solidFill>
            <a:srgbClr val="F7EEF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85800" y="2807208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4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income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2971800" y="2807208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and go</a:t>
            </a:r>
            <a:endParaRPr lang="en-US" sz="1050" dirty="0"/>
          </a:p>
        </p:txBody>
      </p:sp>
      <p:pic>
        <p:nvPicPr>
          <p:cNvPr id="17" name="Image 1" descr="/home/claude/deck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008376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680960" y="2807208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1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training-to-livelihood pipeline — skill first, income after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02920" y="3465576"/>
            <a:ext cx="1115568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85800" y="3465576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4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model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2971800" y="3465576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customer-side verification</a:t>
            </a:r>
            <a:endParaRPr lang="en-US" sz="1050" dirty="0"/>
          </a:p>
        </p:txBody>
      </p:sp>
      <p:pic>
        <p:nvPicPr>
          <p:cNvPr id="22" name="Image 2" descr="/home/claude/deck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666744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680960" y="3465576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1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safety — protecting the women in strangers' homes, not just the customer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502920" y="4123944"/>
            <a:ext cx="11155680" cy="658368"/>
          </a:xfrm>
          <a:prstGeom prst="rect">
            <a:avLst/>
          </a:prstGeom>
          <a:solidFill>
            <a:srgbClr val="F7EEF2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685800" y="4123944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4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depth</a:t>
            </a:r>
            <a:endParaRPr lang="en-US" sz="1150" dirty="0"/>
          </a:p>
        </p:txBody>
      </p:sp>
      <p:sp>
        <p:nvSpPr>
          <p:cNvPr id="26" name="Text 21"/>
          <p:cNvSpPr txBox="1"/>
          <p:nvPr/>
        </p:nvSpPr>
        <p:spPr>
          <a:xfrm>
            <a:off x="2971800" y="4123944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Mass-market beauty &amp; grooming</a:t>
            </a:r>
            <a:endParaRPr lang="en-US" sz="1050" dirty="0"/>
          </a:p>
        </p:txBody>
      </p:sp>
      <p:pic>
        <p:nvPicPr>
          <p:cNvPr id="27" name="Image 3" descr="/home/claude/deck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325112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680960" y="4123944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1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hotel-grade spa &amp; Ayurveda — a premium, higher-margin tier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502920" y="4782312"/>
            <a:ext cx="1115568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685800" y="4782312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4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lines</a:t>
            </a:r>
            <a:endParaRPr lang="en-US" sz="1150" dirty="0"/>
          </a:p>
        </p:txBody>
      </p:sp>
      <p:sp>
        <p:nvSpPr>
          <p:cNvPr id="31" name="Text 25"/>
          <p:cNvSpPr txBox="1"/>
          <p:nvPr/>
        </p:nvSpPr>
        <p:spPr>
          <a:xfrm>
            <a:off x="2971800" y="4782312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+ product only</a:t>
            </a:r>
            <a:endParaRPr lang="en-US" sz="1050" dirty="0"/>
          </a:p>
        </p:txBody>
      </p:sp>
      <p:pic>
        <p:nvPicPr>
          <p:cNvPr id="32" name="Image 4" descr="/home/claude/deck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4983480"/>
            <a:ext cx="256032" cy="256032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7680960" y="4782312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1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+ product + white-label B2B licensing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502920" y="5440680"/>
            <a:ext cx="11155680" cy="658368"/>
          </a:xfrm>
          <a:prstGeom prst="rect">
            <a:avLst/>
          </a:prstGeom>
          <a:solidFill>
            <a:srgbClr val="F7EEF2"/>
          </a:solidFill>
          <a:ln/>
        </p:spPr>
      </p:sp>
      <p:sp>
        <p:nvSpPr>
          <p:cNvPr id="35" name="Text 28"/>
          <p:cNvSpPr txBox="1"/>
          <p:nvPr/>
        </p:nvSpPr>
        <p:spPr>
          <a:xfrm>
            <a:off x="685800" y="544068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4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strategy</a:t>
            </a:r>
            <a:endParaRPr lang="en-US" sz="1150" dirty="0"/>
          </a:p>
        </p:txBody>
      </p:sp>
      <p:sp>
        <p:nvSpPr>
          <p:cNvPr id="36" name="Text 29"/>
          <p:cNvSpPr txBox="1"/>
          <p:nvPr/>
        </p:nvSpPr>
        <p:spPr>
          <a:xfrm>
            <a:off x="2971800" y="544068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multi-city from day one</a:t>
            </a:r>
            <a:endParaRPr lang="en-US" sz="1050" dirty="0"/>
          </a:p>
        </p:txBody>
      </p:sp>
      <p:pic>
        <p:nvPicPr>
          <p:cNvPr id="37" name="Image 5" descr="/home/claude/deck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5641848"/>
            <a:ext cx="256032" cy="256032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7680960" y="544068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1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NCR density first — every sector, then every city</a:t>
            </a:r>
            <a:endParaRPr lang="en-US" sz="1050" dirty="0"/>
          </a:p>
        </p:txBody>
      </p:sp>
      <p:sp>
        <p:nvSpPr>
          <p:cNvPr id="39" name="Text 31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 — INVESTOR OVERVIEW</a:t>
            </a:r>
            <a:endParaRPr lang="en-US" sz="900" dirty="0"/>
          </a:p>
        </p:txBody>
      </p:sp>
      <p:sp>
        <p:nvSpPr>
          <p:cNvPr id="40" name="Text 32"/>
          <p:cNvSpPr txBox="1"/>
          <p:nvPr/>
        </p:nvSpPr>
        <p:spPr>
          <a:xfrm>
            <a:off x="112315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97680"/>
            <a:ext cx="4206240" cy="4206240"/>
          </a:xfrm>
          <a:prstGeom prst="ellipse">
            <a:avLst/>
          </a:prstGeom>
          <a:solidFill>
            <a:srgbClr val="5E13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isn't a feature. It's the foundation.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789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our workforce is women stepping into strangers' homes — often for the first income of their lives. Their safety is the entire trust model, not a checkbox.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5E1338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home/claude/deck/icons/verif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460" y="2331720"/>
            <a:ext cx="822960" cy="8229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3832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 + Police Verification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11480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partner background-checked and certified before her first booking.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64992" y="19659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5E1338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pic>
        <p:nvPicPr>
          <p:cNvPr id="10" name="Image 1" descr="/home/claude/deck/icons/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6532" y="2331720"/>
            <a:ext cx="822960" cy="8229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93592" y="33832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GPS + In-App SOS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3593592" y="411480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 on every visit, with a one-tap emergency alert.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227064" y="19659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5E1338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pic>
        <p:nvPicPr>
          <p:cNvPr id="14" name="Image 2" descr="/home/claude/deck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8604" y="2331720"/>
            <a:ext cx="822960" cy="8229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455664" y="33832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 for Every Partner</a:t>
            </a:r>
            <a:endParaRPr lang="en-US" sz="1450" dirty="0"/>
          </a:p>
        </p:txBody>
      </p:sp>
      <p:sp>
        <p:nvSpPr>
          <p:cNvPr id="16" name="Text 11"/>
          <p:cNvSpPr txBox="1"/>
          <p:nvPr/>
        </p:nvSpPr>
        <p:spPr>
          <a:xfrm>
            <a:off x="6455664" y="411480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and liability cover extended to every woman on the platform.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9089136" y="19659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5E1338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pic>
        <p:nvPicPr>
          <p:cNvPr id="18" name="Image 3" descr="/home/claude/deck/icons/so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0676" y="2331720"/>
            <a:ext cx="822960" cy="8229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317736" y="33832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Two-Way Verification</a:t>
            </a:r>
            <a:endParaRPr lang="en-US" sz="1450" dirty="0"/>
          </a:p>
        </p:txBody>
      </p:sp>
      <p:sp>
        <p:nvSpPr>
          <p:cNvPr id="20" name="Text 14"/>
          <p:cNvSpPr txBox="1"/>
          <p:nvPr/>
        </p:nvSpPr>
        <p:spPr>
          <a:xfrm>
            <a:off x="9317736" y="411480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are verified too — protecting our women partners, not just our customers.</a:t>
            </a:r>
            <a:endParaRPr lang="en-US" sz="1050" dirty="0"/>
          </a:p>
        </p:txBody>
      </p:sp>
      <p:sp>
        <p:nvSpPr>
          <p:cNvPr id="21" name="Text 15"/>
          <p:cNvSpPr txBox="1"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our investor thesis in one line: we cannot build a women-empowerment company on a safety afterthought.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 — INVESTOR OVERVIEW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12315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4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737360"/>
            <a:ext cx="4572000" cy="4572000"/>
          </a:xfrm>
          <a:prstGeom prst="ellipse">
            <a:avLst/>
          </a:prstGeom>
          <a:solidFill>
            <a:srgbClr val="5E13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start. Where we're going.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611880" cy="3520440"/>
          </a:xfrm>
          <a:prstGeom prst="roundRect">
            <a:avLst>
              <a:gd name="adj" fmla="val 3117"/>
            </a:avLst>
          </a:prstGeom>
          <a:solidFill>
            <a:srgbClr val="5E1338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5" name="Image 0" descr="/home/claude/deck/icons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685800" cy="685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YEAR 1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26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Delhi NCR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4747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Delhi, Gurugram, Noida, Faridabad &amp; Ghaziabad — density before breadth. Win one region completely before the next.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1508760"/>
            <a:ext cx="3611880" cy="3520440"/>
          </a:xfrm>
          <a:prstGeom prst="roundRect">
            <a:avLst>
              <a:gd name="adj" fmla="val 3117"/>
            </a:avLst>
          </a:prstGeom>
          <a:solidFill>
            <a:srgbClr val="5E1338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10" name="Image 1" descr="/home/claude/deck/icons/tr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828800"/>
            <a:ext cx="685800" cy="6858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09160" y="26517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YEAR 2–3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4709160" y="2926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Pan-India Tier 1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34747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Mumbai, Bengaluru, Hyderabad, Pune, Chennai — replicate the proven NCR playbook, city by city.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75320" y="1508760"/>
            <a:ext cx="3611880" cy="3520440"/>
          </a:xfrm>
          <a:prstGeom prst="roundRect">
            <a:avLst>
              <a:gd name="adj" fmla="val 3117"/>
            </a:avLst>
          </a:prstGeom>
          <a:solidFill>
            <a:srgbClr val="5E1338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15" name="Image 2" descr="/home/claude/deck/icons/sp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828800"/>
            <a:ext cx="685800" cy="6858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95360" y="26517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YEAR 3+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8595360" y="2926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Expansion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8595360" y="34747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 the marketplace and white-label lines; extend the training-to-livelihood model to new service categories.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02920" y="5349240"/>
            <a:ext cx="11155680" cy="0"/>
          </a:xfrm>
          <a:prstGeom prst="line">
            <a:avLst/>
          </a:prstGeom>
          <a:noFill/>
          <a:ln w="12700">
            <a:solidFill>
              <a:srgbClr val="5E1338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02920" y="557784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Bloom: beauty for the home. Belonging for the workforce.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9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Overview  |  September 2026  |  Delhi NCR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2026-09-07T06:10:01Z</dcterms:created>
  <dcterms:modified xsi:type="dcterms:W3CDTF">2026-09-07T06:10:01Z</dcterms:modified>
</cp:coreProperties>
</file>